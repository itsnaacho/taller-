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703923" cy="6858000"/>
          </a:xfrm>
          <a:prstGeom prst="rect">
            <a:avLst/>
          </a:prstGeom>
          <a:solidFill>
            <a:srgbClr val="0D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9059" y="0"/>
            <a:ext cx="54864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97934" y="1920240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82498" y="3291840"/>
            <a:ext cx="347472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0376" y="3771900"/>
            <a:ext cx="256032" cy="256032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51161" y="1714500"/>
            <a:ext cx="182880" cy="182880"/>
          </a:xfrm>
          <a:prstGeom prst="rect">
            <a:avLst/>
          </a:prstGeom>
          <a:solidFill>
            <a:srgbClr val="378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13835" y="2194560"/>
            <a:ext cx="228600" cy="2286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0972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TALLER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Análisis de Redes
Complejas con Gephi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20440"/>
            <a:ext cx="2286000" cy="45720"/>
          </a:xfrm>
          <a:prstGeom prst="rect">
            <a:avLst/>
          </a:prstGeom>
          <a:solidFill>
            <a:srgbClr val="378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61188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Red de Colaboración Científica ca-GrQc
SNAP — Stanford University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63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  <a:latin typeface="Calibri"/>
              </a:rPr>
              <a:t>Curso: Aproximación a las Políticas Públicas desde los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109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DD7EE"/>
                </a:solidFill>
                <a:latin typeface="Calibri"/>
              </a:rPr>
              <a:t>Prof. Dr. Rodrigo Salas  ·  1er Semestre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35838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I. Tobar Suárez  ·  19 de junio del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Contenido de la Presentación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Calibri"/>
              </a:rPr>
              <a:t>Taller 3 · Análisis de Redes Complejas · APPD 2026   |   I. Tobar Suárez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652881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2/13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399032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Calibri"/>
              </a:rPr>
              <a:t>Descripción del Dataset ca-GrQc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85416"/>
            <a:ext cx="502920" cy="5029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3113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2585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Calibri"/>
              </a:rPr>
              <a:t>Eigenvector Centrality — Autores más influyentes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44952"/>
            <a:ext cx="502920" cy="5029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0906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118104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Calibri"/>
              </a:rPr>
              <a:t>Degree Centrality — Autores más colaborativos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04488"/>
            <a:ext cx="502920" cy="5029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502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97764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Calibri"/>
              </a:rPr>
              <a:t>Betweenness Centrality — Autores puente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64024"/>
            <a:ext cx="502920" cy="5029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0974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83717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Calibri"/>
              </a:rPr>
              <a:t>Closeness Centrality — Autores más cercanos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1325880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3716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1399032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Calibri"/>
              </a:rPr>
              <a:t>Cuadro comparativo de métricas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2185416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23113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25856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Calibri"/>
              </a:rPr>
              <a:t>Comunidades — Algoritmo de Modularidad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3044952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0906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118104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Calibri"/>
              </a:rPr>
              <a:t>Comunidad más grande (C0)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3904488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9502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97764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Calibri"/>
              </a:rPr>
              <a:t>Comunidad más compacta (C17)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4764024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480974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483717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  <a:latin typeface="Calibri"/>
              </a:rPr>
              <a:t>Síntesis y Conclusiones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1234440"/>
            <a:ext cx="45720" cy="502920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Descripción del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7616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ca-GrQc · General Relativity and Quantum Cosmology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Calibri"/>
              </a:rPr>
              <a:t>Taller 3 · Análisis de Redes Complejas · APPD 2026   |   I. Tobar Suárez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2881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3/13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Red de colaboración científica de arXiv (1993–2003). Cada nodo = autor, cada arista = co-publicación.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2743200" cy="1508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5.242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5786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AF7"/>
                </a:solidFill>
                <a:latin typeface="Calibri"/>
              </a:rPr>
              <a:t>Nodos (autores)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691640"/>
            <a:ext cx="2743200" cy="1508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14.496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5786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AF7"/>
                </a:solidFill>
                <a:latin typeface="Calibri"/>
              </a:rPr>
              <a:t>Aristas (colaboraciones)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2743200" cy="1508760"/>
          </a:xfrm>
          <a:prstGeom prst="rect">
            <a:avLst/>
          </a:prstGeom>
          <a:solidFill>
            <a:srgbClr val="378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355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5786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AF7"/>
                </a:solidFill>
                <a:latin typeface="Calibri"/>
              </a:rPr>
              <a:t>Componentes conexos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691640"/>
            <a:ext cx="2743200" cy="15087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8288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4.158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57860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DEAF7"/>
                </a:solidFill>
                <a:latin typeface="Calibri"/>
              </a:rPr>
              <a:t>Nodos en componente
principal (79,3%)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383280"/>
            <a:ext cx="11430000" cy="548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6616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F8A"/>
                </a:solidFill>
                <a:latin typeface="Calibri"/>
              </a:rPr>
              <a:t>Tipo de grafo: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566160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No dirigido, estático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78224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F8A"/>
                </a:solidFill>
                <a:latin typeface="Calibri"/>
              </a:rPr>
              <a:t>Diámetro: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078224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17 saltos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9028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F8A"/>
                </a:solidFill>
                <a:latin typeface="Calibri"/>
              </a:rPr>
              <a:t>Longitud promedio de camino: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590288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6,05 pasos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0235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F8A"/>
                </a:solidFill>
                <a:latin typeface="Calibri"/>
              </a:rPr>
              <a:t>Grado promedio: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102352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5,53 colaboraciones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14416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F8A"/>
                </a:solidFill>
                <a:latin typeface="Calibri"/>
              </a:rPr>
              <a:t>Fuente: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614416"/>
            <a:ext cx="7772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SNAP Stanford (snap.stanford.edu/data/ca-GrQc.html)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806440"/>
            <a:ext cx="11430000" cy="621792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852160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C4000"/>
                </a:solidFill>
                <a:latin typeface="Calibri"/>
              </a:rPr>
              <a:t>⚠  Nota metodológica: todas las métricas de centralidad se calcularon sobre el componente principal (4.158 nodos) para garantizar comparabilidad. Calcularlas sobre el grafo completo genera artefactos graves en componentes aislados.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Eigenvector Centrality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7616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¿Quiénes son los autores más influyentes?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378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Calibri"/>
              </a:rPr>
              <a:t>Taller 3 · Análisis de Redes Complejas · APPD 2026   |   I. Tobar Suárez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2881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4/13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303520" cy="128016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070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4F8A"/>
                </a:solidFill>
                <a:latin typeface="Calibri"/>
              </a:rPr>
              <a:t>¿Qué mide?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No solo cuántas conexiones tiene un nodo, sino cuán importantes son sus vecinos. Alta influencia = estar rodeado de autores igualmente influyentes.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2606040"/>
          <a:ext cx="5303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560"/>
                <a:gridCol w="1767840"/>
                <a:gridCol w="2357120"/>
              </a:tblGrid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Nodo ID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Eigenvector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21012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0,1556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2741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0,1536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12365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0,1531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21508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0,1512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0,1509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15003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0,1504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25346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0,1491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7956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0,1491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14807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0,1490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12781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0,1489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943600" y="1188720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21012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1188720"/>
            <a:ext cx="4225303" cy="316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895" y="1188720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0.1556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664208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2741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1664208"/>
            <a:ext cx="4170994" cy="316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93586" y="1664208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0.1536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139696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12365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2139696"/>
            <a:ext cx="4157416" cy="316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80008" y="2139696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0.1531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615184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21508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2615184"/>
            <a:ext cx="4105822" cy="316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28414" y="2615184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0.1512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090672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9785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60" y="3090672"/>
            <a:ext cx="4097675" cy="316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20267" y="3090672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0.1509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566160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15003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5160" y="3566160"/>
            <a:ext cx="4084098" cy="316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06690" y="3566160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0.1504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041648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25346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95160" y="4041648"/>
            <a:ext cx="4048796" cy="316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71388" y="4041648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0.1491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517136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7956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95160" y="4517136"/>
            <a:ext cx="4048796" cy="316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71388" y="4517136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0.1491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992624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14807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5160" y="4992624"/>
            <a:ext cx="4046081" cy="316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68673" y="4992624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0.149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468112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12781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5160" y="5468112"/>
            <a:ext cx="4043365" cy="316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65957" y="5468112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0.1489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943600"/>
            <a:ext cx="5303520" cy="530352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961888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0000"/>
                </a:solidFill>
                <a:latin typeface="Calibri"/>
              </a:rPr>
              <a:t>💡  El nodo 21012 tiene 81 colaboraciones directas con autores igualmente activos. Influencia ≠ cantidad de vínculos — importa la calidad de las conexiones.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Degree Centrality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7616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¿Quiénes tienen más colaboraciones?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Calibri"/>
              </a:rPr>
              <a:t>Taller 3 · Análisis de Redes Complejas · APPD 2026   |   I. Tobar Suárez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2881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5/13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303520" cy="1280160"/>
          </a:xfrm>
          <a:prstGeom prst="rect">
            <a:avLst/>
          </a:prstGeom>
          <a:solidFill>
            <a:srgbClr val="FD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070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Calibri"/>
              </a:rPr>
              <a:t>¿Qué mide?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Número de colaboradores únicos de cada autor. Medida directa de actividad colaborativa. El grado promedio de la red es solo 5,53.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2606040"/>
          <a:ext cx="5303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560"/>
                <a:gridCol w="1767840"/>
                <a:gridCol w="2357120"/>
              </a:tblGrid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Nodo ID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Grado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21012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21281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22691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12365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9785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21508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17655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19423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943600" y="1188720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21012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1188720"/>
            <a:ext cx="4032504" cy="3169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55096" y="1188720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664208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21281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1664208"/>
            <a:ext cx="3932936" cy="3169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55528" y="1664208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139696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22691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2139696"/>
            <a:ext cx="3833368" cy="3169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55960" y="2139696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77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615184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12365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95160" y="2615184"/>
            <a:ext cx="3833368" cy="3169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55960" y="2615184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77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090672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6610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60" y="3090672"/>
            <a:ext cx="3385312" cy="3169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07904" y="3090672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68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566160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9785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5160" y="3566160"/>
            <a:ext cx="3385312" cy="3169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07904" y="3566160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041648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21508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95160" y="4041648"/>
            <a:ext cx="3335528" cy="3169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58120" y="4041648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517136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17655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95160" y="4517136"/>
            <a:ext cx="3285744" cy="3169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08336" y="4517136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992624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2741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5160" y="4992624"/>
            <a:ext cx="3235960" cy="3169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58552" y="4992624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65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5468112"/>
            <a:ext cx="100584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19423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5160" y="5468112"/>
            <a:ext cx="3136392" cy="3169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58984" y="5468112"/>
            <a:ext cx="45720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63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943600"/>
            <a:ext cx="5303520" cy="530352"/>
          </a:xfrm>
          <a:prstGeom prst="rect">
            <a:avLst/>
          </a:prstGeom>
          <a:solidFill>
            <a:srgbClr val="FFF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961888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0000"/>
                </a:solidFill>
                <a:latin typeface="Calibri"/>
              </a:rPr>
              <a:t>💡  El nodo 21012 tiene 81 colaboraciones: 15× más que el promedio. Distribución tipo ley de potencia — red libre de escala (scale-free).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Betweenness Centrality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7616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¿Quiénes actúan como puente entre grupos?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Calibri"/>
              </a:rPr>
              <a:t>Taller 3 · Análisis de Redes Complejas · APPD 2026   |   I. Tobar Suárez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2881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6/13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303520" cy="1280160"/>
          </a:xfrm>
          <a:prstGeom prst="rect">
            <a:avLst/>
          </a:prstGeom>
          <a:solidFill>
            <a:srgbClr val="F3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070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30A0"/>
                </a:solidFill>
                <a:latin typeface="Calibri"/>
              </a:rPr>
              <a:t>¿Qué mide?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Fracción de caminos mínimos entre todos los pares de nodos que pasan por un autor. Alto valor → puente estructural entre comunidades.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2606040"/>
          <a:ext cx="530351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926"/>
                <a:gridCol w="1325880"/>
                <a:gridCol w="1835833"/>
                <a:gridCol w="1325880"/>
              </a:tblGrid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Nodo ID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Betweenness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Comunidad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13801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0,0589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C0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9572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0,0408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C0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14599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0,0405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C0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7689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0,0397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13929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0,0392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C0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5052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0,0388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C3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14485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0,0374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2710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0,0355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14265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0,0314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C4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17655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0,0286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C0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943600" y="1188720"/>
            <a:ext cx="5943600" cy="475488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2011680"/>
            <a:ext cx="731520" cy="7315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121408"/>
            <a:ext cx="73152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C0
901 nodos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49740" y="1577340"/>
            <a:ext cx="5029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49740" y="1652778"/>
            <a:ext cx="502920" cy="35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C1
395 nodos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12680" y="2971800"/>
            <a:ext cx="457200" cy="457200"/>
          </a:xfrm>
          <a:prstGeom prst="rect">
            <a:avLst/>
          </a:prstGeom>
          <a:solidFill>
            <a:srgbClr val="378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30403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C2
332 nodos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9620" y="3817620"/>
            <a:ext cx="411480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9620" y="3879342"/>
            <a:ext cx="41148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C3
270 nodos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2194560"/>
            <a:ext cx="1051560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2651760"/>
            <a:ext cx="1783080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2834640"/>
            <a:ext cx="548640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389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4F8A"/>
                </a:solidFill>
                <a:latin typeface="Calibri"/>
              </a:rPr>
              <a:t>Nodo 13801
(puente C0→C1,C2,C3)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943600"/>
            <a:ext cx="5303520" cy="530352"/>
          </a:xfrm>
          <a:prstGeom prst="rect">
            <a:avLst/>
          </a:prstGeom>
          <a:solidFill>
            <a:srgbClr val="F3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961888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0000"/>
                </a:solidFill>
                <a:latin typeface="Calibri"/>
              </a:rPr>
              <a:t>💡  Si se eliminan 13801 + 9572 + 14599, el componente principal podría fragmentarse. Las comunidades C1, C2 y C3 (24% de los nodos) quedarían parcialmente aisladas.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Closeness Centrality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7616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¿Quiénes difunden información más rápido?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378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Calibri"/>
              </a:rPr>
              <a:t>Taller 3 · Análisis de Redes Complejas · APPD 2026   |   I. Tobar Suárez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2881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7/13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5303520" cy="1280160"/>
          </a:xfrm>
          <a:prstGeom prst="rect">
            <a:avLst/>
          </a:prstGeom>
          <a:solidFill>
            <a:srgbClr val="E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070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864C"/>
                </a:solidFill>
                <a:latin typeface="Calibri"/>
              </a:rPr>
              <a:t>¿Qué mide?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53619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Inverso de la suma de distancias a todos los nodos alcanzables. Valor alto → el autor llega al resto de la red en muy pocos pasos.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2606040"/>
          <a:ext cx="5303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560"/>
                <a:gridCol w="1767840"/>
                <a:gridCol w="2357120"/>
              </a:tblGrid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378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Nodo ID</a:t>
                      </a:r>
                    </a:p>
                  </a:txBody>
                  <a:tcPr>
                    <a:solidFill>
                      <a:srgbClr val="378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Closeness</a:t>
                      </a:r>
                    </a:p>
                  </a:txBody>
                  <a:tcPr>
                    <a:solidFill>
                      <a:srgbClr val="37864C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13801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0,2449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14485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0,2390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0,2383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17655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0,2382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0,2359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21012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0,2352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12545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0,2345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25006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0,2340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12365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0,2336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22691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0,2329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943600" y="1188720"/>
            <a:ext cx="5943600" cy="4754880"/>
          </a:xfrm>
          <a:prstGeom prst="rect">
            <a:avLst/>
          </a:prstGeom>
          <a:solidFill>
            <a:srgbClr val="F0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28016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C"/>
                </a:solidFill>
                <a:latin typeface="Calibri"/>
              </a:rPr>
              <a:t>Distancia media al resto de la 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2024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864C"/>
                </a:solidFill>
                <a:latin typeface="Calibri"/>
              </a:rPr>
              <a:t>Nodo 13801 (top Closeness)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304288"/>
            <a:ext cx="2051913" cy="411480"/>
          </a:xfrm>
          <a:prstGeom prst="rect">
            <a:avLst/>
          </a:prstGeom>
          <a:solidFill>
            <a:srgbClr val="378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9833" y="23042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864C"/>
                </a:solidFill>
                <a:latin typeface="Calibri"/>
              </a:rPr>
              <a:t>4.08 pasos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004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95959"/>
                </a:solidFill>
                <a:latin typeface="Calibri"/>
              </a:rPr>
              <a:t>Nodo promedio de la 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584448"/>
            <a:ext cx="3042666" cy="4114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0586" y="35844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95959"/>
                </a:solidFill>
                <a:latin typeface="Calibri"/>
              </a:rPr>
              <a:t>6.05 pasos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4805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C0C0"/>
                </a:solidFill>
                <a:latin typeface="Calibri"/>
              </a:rPr>
              <a:t>Nodo periférico (aprox.)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4864608"/>
            <a:ext cx="4777740" cy="41148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95660" y="48646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C0C0"/>
                </a:solidFill>
                <a:latin typeface="Calibri"/>
              </a:rPr>
              <a:t>9.5 pasos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943600"/>
            <a:ext cx="5303520" cy="530352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61888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0000"/>
                </a:solidFill>
                <a:latin typeface="Calibri"/>
              </a:rPr>
              <a:t>💡  El nodo 13801 alcanza a cualquier autor del componente principal en solo 4,08 pasos (vs. 6,05 del promedio). Ventaja epistémica: recibe y disemina conocimiento más rápido.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Cuadro Comparativo de Métricas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7616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¿Qué autores dominan en más dimensiones?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Calibri"/>
              </a:rPr>
              <a:t>Taller 3 · Análisis de Redes Complejas · APPD 2026   |   I. Tobar Suárez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2881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8/13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1188720"/>
          <a:ext cx="7772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9040"/>
                <a:gridCol w="1209040"/>
                <a:gridCol w="1468120"/>
                <a:gridCol w="1554480"/>
                <a:gridCol w="1381760"/>
                <a:gridCol w="949960"/>
              </a:tblGrid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Nodo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Degree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Eigenvector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Betweenness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Closeness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21012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#1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#1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#6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12365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#3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#3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#9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17655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#8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#10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#4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2741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#9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#2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21508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#7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#4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9785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#6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#5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22691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#3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#10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13801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#1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#1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9572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#2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#3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14485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#7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#2 ✓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21281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#2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…otros 17 nodos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(1 métrica c/u)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229600" y="1188720"/>
            <a:ext cx="3749039" cy="502920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2801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4F8A"/>
                </a:solidFill>
                <a:latin typeface="Calibri"/>
              </a:rPr>
              <a:t>Perfiles destacados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783080"/>
            <a:ext cx="3474720" cy="12344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8562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🏆 El más versátil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402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EFF"/>
                </a:solidFill>
                <a:latin typeface="Calibri"/>
              </a:rPr>
              <a:t>Nodo 21012
Degree + Eigenvector + Closeness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3200400"/>
            <a:ext cx="3474720" cy="12344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2735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🌉 El puente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6576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EFF"/>
                </a:solidFill>
                <a:latin typeface="Calibri"/>
              </a:rPr>
              <a:t>Nodo 13801
Betweenness + Closeness #1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4617720"/>
            <a:ext cx="3474720" cy="1234440"/>
          </a:xfrm>
          <a:prstGeom prst="rect">
            <a:avLst/>
          </a:prstGeom>
          <a:solidFill>
            <a:srgbClr val="378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6908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⚡ Influencia alta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507492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EFF"/>
                </a:solidFill>
                <a:latin typeface="Calibri"/>
              </a:rPr>
              <a:t>Nodo 12365
Degree + Eigenvector + Closeness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60350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1A4F8A"/>
                </a:solidFill>
                <a:latin typeface="Calibri"/>
              </a:rPr>
              <a:t>Conclusión: influencia es multidimensional.
Ningún autor domina todas las métricas.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Detección de Comunidades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7616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Algoritmo de Modularidad de Louvain · Q = 0,80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Calibri"/>
              </a:rPr>
              <a:t>Taller 3 · Análisis de Redes Complejas · APPD 2026   |   I. Tobar Suárez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2881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9/13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2743200" cy="13716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6187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DEEFF"/>
                </a:solidFill>
                <a:latin typeface="Calibri"/>
              </a:rPr>
              <a:t>comunidades
detectadas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188720"/>
            <a:ext cx="2743200" cy="1371600"/>
          </a:xfrm>
          <a:prstGeom prst="rect">
            <a:avLst/>
          </a:prstGeom>
          <a:solidFill>
            <a:srgbClr val="378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26187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0,80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DEEFF"/>
                </a:solidFill>
                <a:latin typeface="Calibri"/>
              </a:rPr>
              <a:t>Modularidad Q
(muy alta)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88720"/>
            <a:ext cx="274320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26187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901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DEEFF"/>
                </a:solidFill>
                <a:latin typeface="Calibri"/>
              </a:rPr>
              <a:t>nodos en la
comunidad mayor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188720"/>
            <a:ext cx="2743200" cy="1371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261872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DDEEFF"/>
                </a:solidFill>
                <a:latin typeface="Calibri"/>
              </a:rPr>
              <a:t>comunidades
con &gt; 100 nodos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65760" y="2743200"/>
          <a:ext cx="502919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026"/>
                <a:gridCol w="1484026"/>
                <a:gridCol w="2061147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Comunidad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Nodos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% del componente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C0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21,7%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C1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 9,5%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C2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 8,0%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C3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270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 6,5%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C4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 5,5%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C5–C9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895 (total)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21,5%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C10–C19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561 (total)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13,5%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C20–C37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~350 total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 8,4%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C38–C62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~211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00000"/>
                          </a:solidFill>
                          <a:latin typeface="Calibri"/>
                        </a:rPr>
                        <a:t> 5,1%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669280" y="2743200"/>
            <a:ext cx="1005840" cy="330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C0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2743200"/>
            <a:ext cx="4284146" cy="330925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32418" y="2743200"/>
            <a:ext cx="457200" cy="330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901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239588"/>
            <a:ext cx="1005840" cy="330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C1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20840" y="3239588"/>
            <a:ext cx="1878177" cy="330925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26449" y="3239588"/>
            <a:ext cx="457200" cy="330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395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735977"/>
            <a:ext cx="1005840" cy="330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C2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3735977"/>
            <a:ext cx="1578620" cy="330925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6892" y="3735977"/>
            <a:ext cx="457200" cy="330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332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232365"/>
            <a:ext cx="1005840" cy="330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C3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20840" y="4232365"/>
            <a:ext cx="1283817" cy="330925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32089" y="4232365"/>
            <a:ext cx="457200" cy="330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270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728754"/>
            <a:ext cx="1005840" cy="330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C4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20840" y="4728754"/>
            <a:ext cx="1093622" cy="330925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1894" y="4728754"/>
            <a:ext cx="457200" cy="330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230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225142"/>
            <a:ext cx="1005840" cy="330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C5–C9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20840" y="5225142"/>
            <a:ext cx="4255617" cy="330925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03889" y="5225142"/>
            <a:ext cx="457200" cy="330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895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5721531"/>
            <a:ext cx="1005840" cy="330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Calibri"/>
              </a:rPr>
              <a:t>C10–C19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0840" y="5721531"/>
            <a:ext cx="2667487" cy="330925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15759" y="5721531"/>
            <a:ext cx="457200" cy="330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4F8A"/>
                </a:solidFill>
                <a:latin typeface="Calibri"/>
              </a:rPr>
              <a:t>561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943600"/>
            <a:ext cx="11430000" cy="530352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961888"/>
            <a:ext cx="11155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0000"/>
                </a:solidFill>
                <a:latin typeface="Calibri"/>
              </a:rPr>
              <a:t>💡  La red no está ni completamente fragmentada ni centralizada. Estructura intermedia: grandes comunidades temáticas + muchos grupos pequeños. Cada comunidad = posible subárea de la relatividad general.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Comunidad más Grande — C0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7616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901 nodos · El núcleo articulador de la 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Calibri"/>
              </a:rPr>
              <a:t>Taller 3 · Análisis de Redes Complejas · APPD 2026   |   I. Tobar Suárez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2881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10/13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188720"/>
          <a:ext cx="566927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2689"/>
                <a:gridCol w="261659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Parámetro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Número de nodos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Número de aristas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2.150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Densidad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0,0053 (baja)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Clustering promedio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0,5115 (sorprendentemente alto)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Autor más influyente (Eigen.)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Nodo 13929 (0,2369)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Autor más colaborador (Deg.)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Nodo 13801 (38 colab.)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Mayor intermediación (Betw.)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Nodo 14599 (0,1283)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309360" y="1188720"/>
            <a:ext cx="5577840" cy="420624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4F8A"/>
                </a:solidFill>
                <a:latin typeface="Calibri"/>
              </a:rPr>
              <a:t>¿Qué nos dice esto?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83080"/>
            <a:ext cx="73152" cy="8229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4F8A"/>
                </a:solidFill>
                <a:latin typeface="Calibri"/>
              </a:rPr>
              <a:t>Liderazgos especializados: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48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3 nodos distintos dominan cada métrica → no hay un solo 'jefe'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926080"/>
            <a:ext cx="73152" cy="822960"/>
          </a:xfrm>
          <a:prstGeom prst="rect">
            <a:avLst/>
          </a:prstGeom>
          <a:solidFill>
            <a:srgbClr val="378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9260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864C"/>
                </a:solidFill>
                <a:latin typeface="Calibri"/>
              </a:rPr>
              <a:t>Alta cohesión interna: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91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Clustering 0,51 → triángulos de colaboración frecuentes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069080"/>
            <a:ext cx="73152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0690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D7D31"/>
                </a:solidFill>
                <a:latin typeface="Calibri"/>
              </a:rPr>
              <a:t>Núcleo global: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4348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Calibri"/>
              </a:rPr>
              <a:t>Concentra los nodos de mayor Betweenness y Closeness de TODA la 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897880"/>
            <a:ext cx="11430000" cy="566928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91616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F8A"/>
                </a:solidFill>
                <a:latin typeface="Calibri"/>
              </a:rPr>
              <a:t>C0 SÍ es la comunidad central. El nodo 13801 (miembro de C0) tiene el mayor Betweenness y Closeness de toda la red → C0 actúa como 'hub' global.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Comunidad más Compacta — C17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7616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47 nodos · Densidad 0,684 · Clustering 0,860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378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Calibri"/>
              </a:rPr>
              <a:t>Taller 3 · Análisis de Redes Complejas · APPD 2026   |   I. Tobar Suárez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2881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11/13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1188720"/>
          <a:ext cx="5303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Parámetro</a:t>
                      </a:r>
                    </a:p>
                  </a:txBody>
                  <a:tcPr>
                    <a:solidFill>
                      <a:srgbClr val="3786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Valor</a:t>
                      </a:r>
                    </a:p>
                  </a:txBody>
                  <a:tcPr>
                    <a:solidFill>
                      <a:srgbClr val="37864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Número de nodos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Número de aristas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739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Densidad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0,684 (muy alta)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Clustering promedio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0,860 (muy alto)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Top autor (Degree)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Nodo 6512 (41 conexiones)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Top autor (Eigenvector)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Nodo 6512 (0,171)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Liderazgo similar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Nodos 16654 y 17807 (deg. 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943600" y="1188720"/>
            <a:ext cx="5943600" cy="5120640"/>
          </a:xfrm>
          <a:prstGeom prst="rect">
            <a:avLst/>
          </a:prstGeom>
          <a:solidFill>
            <a:srgbClr val="F0F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61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864C"/>
                </a:solidFill>
                <a:latin typeface="Calibri"/>
              </a:rPr>
              <a:t>Comparativa de densidad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78308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864C"/>
                </a:solidFill>
                <a:latin typeface="Calibri"/>
              </a:rPr>
              <a:t>C17 (más compacta)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185416"/>
            <a:ext cx="3439972" cy="457200"/>
          </a:xfrm>
          <a:prstGeom prst="rect">
            <a:avLst/>
          </a:prstGeom>
          <a:solidFill>
            <a:srgbClr val="378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57892" y="218541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864C"/>
                </a:solidFill>
                <a:latin typeface="Calibri"/>
              </a:rPr>
              <a:t>0.684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9718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4F8A"/>
                </a:solidFill>
                <a:latin typeface="Calibri"/>
              </a:rPr>
              <a:t>C0 (más grande)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374136"/>
            <a:ext cx="73152" cy="4572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37413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F8A"/>
                </a:solidFill>
                <a:latin typeface="Calibri"/>
              </a:rPr>
              <a:t>0.005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1605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595959"/>
                </a:solidFill>
                <a:latin typeface="Calibri"/>
              </a:rPr>
              <a:t>Red completa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562856"/>
            <a:ext cx="73152" cy="457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4562856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95959"/>
                </a:solidFill>
                <a:latin typeface="Calibri"/>
              </a:rPr>
              <a:t>0.001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9834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864C"/>
                </a:solidFill>
                <a:latin typeface="Calibri"/>
              </a:rPr>
              <a:t>→ El 68,4% de todas las colaboraciones posibles entre sus 47 miembros existen.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897880"/>
            <a:ext cx="11430000" cy="566928"/>
          </a:xfrm>
          <a:prstGeom prst="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91616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000000"/>
                </a:solidFill>
                <a:latin typeface="Calibri"/>
              </a:rPr>
              <a:t>💡  Alta densidad → equipo de investigación consolidado (misma institución o problema científico específico). Liderazgo tripartito (6512, 16654, 17807) → mayor resiliencia. Riesgo: 'cámara de eco'.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616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Síntesis y 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02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D7EE"/>
                </a:solidFill>
                <a:latin typeface="Calibri"/>
              </a:rPr>
              <a:t>Taller 3 · Análisis de Redes Complejas · APPD 2026   |   I. Tobar Suárez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3112" y="6528816"/>
            <a:ext cx="731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  <a:latin typeface="Calibri"/>
              </a:rPr>
              <a:t>12/13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34440"/>
            <a:ext cx="320040" cy="8229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271016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4F8A"/>
                </a:solidFill>
                <a:latin typeface="Calibri"/>
              </a:rPr>
              <a:t>Red libre de escala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655064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Una minoría de autores concentra la mayoría de colaboraciones (nodo 21012: 81 vs. promedio de 5,53). Distribución tipo ley de potencia.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221992"/>
            <a:ext cx="320040" cy="822960"/>
          </a:xfrm>
          <a:prstGeom prst="rect">
            <a:avLst/>
          </a:prstGeom>
          <a:solidFill>
            <a:srgbClr val="378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58568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7864C"/>
                </a:solidFill>
                <a:latin typeface="Calibri"/>
              </a:rPr>
              <a:t>Influencia es multidimensional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4261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Ningún nodo domina las 4 métricas. Ser colaborativo ≠ ser influyente ≠ ser un puente.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9544"/>
            <a:ext cx="320040" cy="8229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461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030A0"/>
                </a:solidFill>
                <a:latin typeface="Calibri"/>
              </a:rPr>
              <a:t>El nodo 13801 es el más estratégico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301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Lidera Betweenness Y Closeness. Su eliminación fragmentaría la red más que la de cualquier otro autor. Es el 'puente crítico'.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97096"/>
            <a:ext cx="320040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2336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ED7D31"/>
                </a:solidFill>
                <a:latin typeface="Calibri"/>
              </a:rPr>
              <a:t>Comunidades bien definidas (Q=0,80)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63 comunidades detectadas = subcampos temáticos o grupos institucionales de la relatividad general y cosmología cuántica.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184648"/>
            <a:ext cx="320040" cy="822960"/>
          </a:xfrm>
          <a:prstGeom prst="rect">
            <a:avLst/>
          </a:prstGeom>
          <a:solidFill>
            <a:srgbClr val="0A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21224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7070"/>
                </a:solidFill>
                <a:latin typeface="Calibri"/>
              </a:rPr>
              <a:t>Dos tipos de organización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60527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Calibri"/>
              </a:rPr>
              <a:t>C0 (901 nodos): nucleo disperso pero articulador. C17 (47 nodos, densidad 0,68): equipo cohesionado y cerrado.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D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Referencias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286000" cy="45720"/>
          </a:xfrm>
          <a:prstGeom prst="rect">
            <a:avLst/>
          </a:prstGeom>
          <a:solidFill>
            <a:srgbClr val="378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[1]  Blondel, V. D. et al. (2008). Fast unfolding of communities in large networks. Journal of Statistical Mechanics, P10008.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[2]  Brandes, U. (2001). A faster algorithm for betweenness centrality. Journal of Mathematical Sociology, 25(2), 163–177.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71216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[3]  Leskovec, J., Kleinberg, J., &amp; Faloutsos, C. (2007). Graph evolution: Densification and shrinking diameters. ACM TKDD, 1(1).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9584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[4]  Newman, M. E. J. (2004). Coauthorship networks and patterns of scientific collaboration. PNAS, 101(S1), 5200–5205.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8795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[5]  SNAP Stanford — General Relativity and Quantum Cosmology Collaboration Network. snap.stanford.edu/data/ca-GrQc.html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463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Calibri"/>
              </a:rPr>
              <a:t>[6]  Gephi Consortium (2023). Gephi 0.11.2 — The Open Graph Viz Platform. gephi.org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¡Gracias por su atención!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6172200"/>
            <a:ext cx="3931920" cy="45720"/>
          </a:xfrm>
          <a:prstGeom prst="rect">
            <a:avLst/>
          </a:prstGeom>
          <a:solidFill>
            <a:srgbClr val="378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