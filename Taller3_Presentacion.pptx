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51960"/>
            <a:ext cx="12188952" cy="2606040"/>
          </a:xfrm>
          <a:prstGeom prst="rect">
            <a:avLst/>
          </a:prstGeom>
          <a:solidFill>
            <a:srgbClr val="0D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DD7EE"/>
                </a:solidFill>
                <a:latin typeface="Calibri"/>
              </a:rPr>
              <a:t>TALLER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Análisis de Redes
Complejas con Gephi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429000"/>
            <a:ext cx="3200400" cy="6400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661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  <a:latin typeface="Calibri"/>
              </a:rPr>
              <a:t>Red ca-GrQc — SNAP Stanford  ·  Colaboración científica 1993–2003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DD7EE"/>
                </a:solidFill>
                <a:latin typeface="Calibri"/>
              </a:rPr>
              <a:t>Curso: Aproximación a las Políticas Públicas desde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731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DD7EE"/>
                </a:solidFill>
                <a:latin typeface="Calibri"/>
              </a:rPr>
              <a:t>Prof. Dr. Rodrigo Salas  ·  1er Semestre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20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I. Tobar Suárez  ·  19 de 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¿Qué red analizamos?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1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Red de colaboración científica entre autores de física (arXiv, 1993–2003).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697480" cy="16459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697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5.242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DEEFF"/>
                </a:solidFill>
                <a:latin typeface="Calibri"/>
              </a:rPr>
              <a:t>autores
(nodos)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4992" y="1691640"/>
            <a:ext cx="269748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2" y="1783080"/>
            <a:ext cx="2697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14.496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63347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DEEFF"/>
                </a:solidFill>
                <a:latin typeface="Calibri"/>
              </a:rPr>
              <a:t>co-publicaciones
(aristas)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2784" y="1691640"/>
            <a:ext cx="2697480" cy="164592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2784" y="1783080"/>
            <a:ext cx="2697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63347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DEEFF"/>
                </a:solidFill>
                <a:latin typeface="Calibri"/>
              </a:rPr>
              <a:t>grupos
desconectados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691640"/>
            <a:ext cx="2697480" cy="1645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0576" y="1783080"/>
            <a:ext cx="2697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79,3%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2633472"/>
            <a:ext cx="2697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DEEFF"/>
                </a:solidFill>
                <a:latin typeface="Calibri"/>
              </a:rPr>
              <a:t>en el grupo
principal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56432"/>
            <a:ext cx="11274552" cy="4572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11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F8A"/>
                </a:solidFill>
                <a:latin typeface="Calibri"/>
              </a:rPr>
              <a:t>Cada nodo 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6118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un autor (ID anónimo)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422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F8A"/>
                </a:solidFill>
                <a:latin typeface="Calibri"/>
              </a:rPr>
              <a:t>Cada arista =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142232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publicaron juntos al menos 1 vez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7258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F8A"/>
                </a:solidFill>
                <a:latin typeface="Calibri"/>
              </a:rPr>
              <a:t>Red =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672584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no dirigida (la colaboración es mutua)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202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F8A"/>
                </a:solidFill>
                <a:latin typeface="Calibri"/>
              </a:rPr>
              <a:t>Calculamos todo sobre 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202936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el grupo principal (4.158 nodos), no el grafo completo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53328"/>
            <a:ext cx="11274552" cy="420624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062472"/>
            <a:ext cx="110002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4000"/>
                </a:solidFill>
                <a:latin typeface="Calibri"/>
              </a:rPr>
              <a:t>⚠  Importante: calcular métricas sobre el grafo completo (con nodos aislados) da resultados falsos. Por eso trabajamos solo con el grupo principal.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¿Quiénes son los autores más influyentes?  →  Eigenvector Centrality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2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394960" cy="100584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4F8A"/>
                </a:solidFill>
                <a:latin typeface="Calibri"/>
              </a:rPr>
              <a:t>¿Qué mide el Eigenvector Centrality?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No solo cuántos coautores tienes, sino qué tan importantes son esos coautores.
Si colaboras con autores muy conectados, tu puntaje sube.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2286000"/>
          <a:ext cx="5394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950"/>
                <a:gridCol w="2023110"/>
                <a:gridCol w="2247900"/>
              </a:tblGrid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Nodo (ID)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Eigenvector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21508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9785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15003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0,1504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7956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0,1491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14807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0,1490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12781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0,1489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35040" y="1143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21012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4304" y="1143000"/>
            <a:ext cx="4182188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04780" y="114300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5819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2741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581912"/>
            <a:ext cx="412843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1024" y="158191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0208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12365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2020824"/>
            <a:ext cx="4114993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7585" y="20208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4597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21508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04304" y="2459736"/>
            <a:ext cx="4063926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86518" y="245973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8986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9785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04304" y="2898648"/>
            <a:ext cx="405586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78454" y="28986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15003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04304" y="3337560"/>
            <a:ext cx="4042423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5015" y="33375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0.1504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776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25346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04304" y="3776472"/>
            <a:ext cx="400748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30074" y="377647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0.1491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42153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7956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04304" y="4215384"/>
            <a:ext cx="400748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30074" y="421538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0.1491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6542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14807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4654296"/>
            <a:ext cx="4004794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27386" y="46542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0.149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50932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12781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4304" y="5093208"/>
            <a:ext cx="4002107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24699" y="509320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0.1489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Respuesta: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Ser influyente = estar rodeado de coautores que también son importantes. El nodo 21012 tiene 81 colaboraciones con autores igualmente activos → es el núcleo de la red. No es lo mismo que tener muchos coautores cualquiera.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¿Quiénes tienen más colaboraciones?  →  Degree Centrality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394960" cy="1005840"/>
          </a:xfrm>
          <a:prstGeom prst="rect">
            <a:avLst/>
          </a:prstGeom>
          <a:solidFill>
            <a:srgbClr val="FC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Calibri"/>
              </a:rPr>
              <a:t>¿Qué mide el Degree Centrality?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Simplemente: ¿con cuántos autores distintos has publicado?
El grado promedio de esta red es solo 5,53.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2286000"/>
          <a:ext cx="5394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950"/>
                <a:gridCol w="2023110"/>
                <a:gridCol w="2247900"/>
              </a:tblGrid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Nodo (ID)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N° coautores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21281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22691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9785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17655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19423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35040" y="1143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21012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4304" y="1143000"/>
            <a:ext cx="3991356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13948" y="114300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5819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21281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581912"/>
            <a:ext cx="3892804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15396" y="158191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79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0208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22691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2020824"/>
            <a:ext cx="3794252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16844" y="20208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4597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12365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04304" y="2459736"/>
            <a:ext cx="3794252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16844" y="245973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28986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6610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04304" y="2898648"/>
            <a:ext cx="3350768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3360" y="28986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9785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04304" y="3337560"/>
            <a:ext cx="3350768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73360" y="33375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776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21508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04304" y="3776472"/>
            <a:ext cx="3301492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24084" y="377647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42153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17655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04304" y="4215384"/>
            <a:ext cx="3252216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74808" y="421538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6542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2741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4654296"/>
            <a:ext cx="320294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25532" y="46542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50932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19423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4304" y="5093208"/>
            <a:ext cx="3104388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6980" y="509320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63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FC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D7D31"/>
                </a:solidFill>
                <a:latin typeface="Calibri"/>
              </a:rPr>
              <a:t>Respuesta: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Sí hay diferencia: el nodo 21281 tiene 79 coautores (top 2 en Degree) pero no aparece en el top de Eigenvector → sus coautores son menos importantes. Además, el nodo 21012 tiene 81 colaboraciones vs. promedio 5,53 → 15 veces más. Unos pocos concentran casi 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¿Quiénes conectan grupos distintos?  →  Betweenness Centrality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394960" cy="1005840"/>
          </a:xfrm>
          <a:prstGeom prst="rect">
            <a:avLst/>
          </a:prstGeom>
          <a:solidFill>
            <a:srgbClr val="ED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030A0"/>
                </a:solidFill>
                <a:latin typeface="Calibri"/>
              </a:rPr>
              <a:t>¿Qué mide el Betweenness Centrality?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¿Por cuántos caminos entre otros pares de autores pasa este nodo?
Alto valor = puente entre grupos. Si lo sacas, la red se rompe.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2286000"/>
          <a:ext cx="539495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244"/>
                <a:gridCol w="1556238"/>
                <a:gridCol w="1763736"/>
                <a:gridCol w="1348740"/>
              </a:tblGrid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Nodo (ID)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Betweenness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Comunidad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9572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0,0408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0,0405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7689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17655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0,0286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035040" y="1143000"/>
            <a:ext cx="5852160" cy="4389120"/>
          </a:xfrm>
          <a:prstGeom prst="rect">
            <a:avLst/>
          </a:prstGeom>
          <a:solidFill>
            <a:srgbClr val="ED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34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030A0"/>
                </a:solidFill>
                <a:latin typeface="Calibri"/>
              </a:rPr>
              <a:t>¿Qué pasa si eliminamos al nodo 13801?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920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7830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El 5,9% de TODOS los caminos de la red pasan por él.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578608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4144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Se desconectarían comunidades que solo se hablan a través suyo.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236976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9981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C1, C2 y C3 (24% de los nodos) dependen de estos puentes.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3895344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75818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Si eliminamos los top 3 (13801, 9572, 14599) juntos → la red se fragmenta.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553712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41655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Estos autores no tienen los más coautores, pero su posición es clave.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EDE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030A0"/>
                </a:solidFill>
                <a:latin typeface="Calibri"/>
              </a:rPr>
              <a:t>Respuesta: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Si los sacamos, la red se rompe en pedazos. Las comunidades C1, C2, C3 quedarían aisladas. Son 'puentes críticos' aunque no sean los más colaborativos.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¿Quiénes llegan más rápido a todos?  →  Closeness Centrality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394960" cy="100584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4C"/>
                </a:solidFill>
                <a:latin typeface="Calibri"/>
              </a:rPr>
              <a:t>¿Qué mide el Closeness Centrality?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Qué tan cerca estás del resto de la red en promedio.
Valor alto = llegas a todos en pocos pasos intermedios.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2286000"/>
          <a:ext cx="53949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950"/>
                <a:gridCol w="2023110"/>
                <a:gridCol w="2247900"/>
              </a:tblGrid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3786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Nodo (ID)</a:t>
                      </a:r>
                    </a:p>
                  </a:txBody>
                  <a:tcPr>
                    <a:solidFill>
                      <a:srgbClr val="3786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Closeness</a:t>
                      </a:r>
                    </a:p>
                  </a:txBody>
                  <a:tcPr>
                    <a:solidFill>
                      <a:srgbClr val="37864C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14485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17655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25006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34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12365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34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22691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0,2329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035040" y="1143000"/>
            <a:ext cx="5852160" cy="438912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2344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C"/>
                </a:solidFill>
                <a:latin typeface="Calibri"/>
              </a:rPr>
              <a:t>¿Cuántos pasos necesita para llegar a todos?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87451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C"/>
                </a:solidFill>
                <a:latin typeface="Calibri"/>
              </a:rPr>
              <a:t>Nodo 13801 (top 1)  →  4.08 pasos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313431"/>
            <a:ext cx="1865376" cy="41148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3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  <a:latin typeface="Calibri"/>
              </a:rPr>
              <a:t>Promedio de la red  →  6.05 pasos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502151"/>
            <a:ext cx="276606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4251959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0B0B0"/>
                </a:solidFill>
                <a:latin typeface="Calibri"/>
              </a:rPr>
              <a:t>Nodo periférico  →  9.50 pasos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90871"/>
            <a:ext cx="4343400" cy="41148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49834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7864C"/>
                </a:solidFill>
                <a:latin typeface="Calibri"/>
              </a:rPr>
              <a:t>El nodo 13801 llega a cualquier autor
en solo 4 saltos. El promedio necesita 6.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C"/>
                </a:solidFill>
                <a:latin typeface="Calibri"/>
              </a:rPr>
              <a:t>Respuesta: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Pueden difundir un hallazgo científico más rápido: en solo 4 pasos llegan a todos los autores de la red. También se enteran antes de los avances de otros. Están en el 'centro geográfico' de la 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¿Cuáles autores aparecen en más rankings?  →  Cuadro Comparativo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27 autores aparecen en algún top 10.  Aquí los que más se repiten: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600200"/>
          <a:ext cx="7589518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32"/>
                <a:gridCol w="1072432"/>
                <a:gridCol w="1319916"/>
                <a:gridCol w="1484906"/>
                <a:gridCol w="1237421"/>
                <a:gridCol w="1402411"/>
              </a:tblGrid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Eigenvector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Betweenness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Closeness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 métricas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21012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#1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#1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#6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3 de 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12365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#3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#3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#9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3 de 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17655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#8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#10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3 de 4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2741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9785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13801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9572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473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14485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✓ #2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2 de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74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17 nodos más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(1 métrica c/u)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222222"/>
                          </a:solidFill>
                          <a:latin typeface="Calibri"/>
                        </a:rPr>
                        <a:t>1 de 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183879" y="1600200"/>
            <a:ext cx="3749039" cy="489204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916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4F8A"/>
                </a:solidFill>
                <a:latin typeface="Calibri"/>
              </a:rPr>
              <a:t>Lo que concluimos: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331720"/>
            <a:ext cx="164592" cy="16459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9456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Nadie domina las 4 métricas a la vez.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3337560"/>
            <a:ext cx="164592" cy="16459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32004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21012 = el más 'completo': top en colaboraciones, influencia y cercanía.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4343400"/>
            <a:ext cx="164592" cy="16459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13801 = el más 'estratégico': no tiene muchos coautores, pero conecta todo.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5349240"/>
            <a:ext cx="164592" cy="16459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521208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Influencia, colaboratividad, intermediación y cercanía son cosas distintas.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¿Cuántas comunidades hay en la red?  →  Algoritmo de Modularidad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2788920" cy="1417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DEEFF"/>
                </a:solidFill>
                <a:latin typeface="Calibri"/>
              </a:rPr>
              <a:t>comunidades
detectadas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143000"/>
            <a:ext cx="2788920" cy="141732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1207008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 = 0,80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19659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DEEFF"/>
                </a:solidFill>
                <a:latin typeface="Calibri"/>
              </a:rPr>
              <a:t>modularidad
(muy alta)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143000"/>
            <a:ext cx="2788920" cy="1417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207008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19659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DEEFF"/>
                </a:solidFill>
                <a:latin typeface="Calibri"/>
              </a:rPr>
              <a:t>nodos en la
comunidad mayor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98864" y="1143000"/>
            <a:ext cx="2788920" cy="1417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1207008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1965960"/>
            <a:ext cx="2788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DEEFF"/>
                </a:solidFill>
                <a:latin typeface="Calibri"/>
              </a:rPr>
              <a:t>comunidades
pequeñas (&lt; 20)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65760" y="2743200"/>
          <a:ext cx="530351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5669"/>
                <a:gridCol w="1187355"/>
                <a:gridCol w="277049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Comunidad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Nodos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% del grupo principal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21,7%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9,5%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8,0%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6,5%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5,5%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C5 a C9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895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21,5% (total 5 comun.)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C10 a C19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561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13,5% (total 10 comun.)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C20 a C37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~350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8,4% (total 18 comun.)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C38 a C62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~211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 5,1% (total 25 comun.)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943600" y="2743200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12864" y="2743200"/>
            <a:ext cx="4078178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09330" y="2743200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901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13462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3213462"/>
            <a:ext cx="1787880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9032" y="3213462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395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683725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12864" y="3683725"/>
            <a:ext cx="1502724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3876" y="3683725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332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153988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12864" y="4153988"/>
            <a:ext cx="1222095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3247" y="4153988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270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24251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12864" y="4624251"/>
            <a:ext cx="1041044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72196" y="4624251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230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094514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C5–C9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2864" y="5094514"/>
            <a:ext cx="4051020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82172" y="5094514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895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5564777"/>
            <a:ext cx="91440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555555"/>
                </a:solidFill>
                <a:latin typeface="Calibri"/>
              </a:rPr>
              <a:t>C10–C19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2864" y="5564777"/>
            <a:ext cx="2539243" cy="29391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0395" y="5564777"/>
            <a:ext cx="502920" cy="293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4F8A"/>
                </a:solidFill>
                <a:latin typeface="Calibri"/>
              </a:rPr>
              <a:t>561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Respuesta: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La red NO está ni completamente fragmentada ni centralizada. Hay un grupo grande (C0 con 21,7%) y muchos grupos chicos. Cada comunidad probablemente = una línea de investigación dentro de la relatividad general (agujeros negros, ondas gravitacionales, etc.).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¿Cómo es la comunidad más grande?  →  Comunidad C0 (901 nodos)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70432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miramos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>
                    <a:solidFill>
                      <a:srgbClr val="1A4F8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a) Número de nodos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901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b) Número de aristas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2.150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c) Densidad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0,0053 → baja (dispersa)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d) Autor más influyente (Eigenvc.)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Nodo 13929  (valor 0,2369)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e) Autor más colaborativo (Degree)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Nodo 13801  (38 coautores)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f) Mayor intermediación (Betw.)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Nodo 14599  (valor 0,1283)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Clustering promedio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0,51  → sorprendentemente alto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95160" y="1170432"/>
            <a:ext cx="4937760" cy="41148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2618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4F8A"/>
                </a:solidFill>
                <a:latin typeface="Calibri"/>
              </a:rPr>
              <a:t>Lo que encontramos: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847088"/>
            <a:ext cx="201168" cy="20116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1737360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3 autores distintos lideran cada métrica → no hay un solo 'jefe'.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944368"/>
            <a:ext cx="201168" cy="20116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2834640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Clustering 0,51 = cuando 2 autores tienen un coautor en común, hay 51% de
probabilidad de que colaboren entre sí. Muchos triángulos.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41648"/>
            <a:ext cx="201168" cy="20116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3931920"/>
            <a:ext cx="4389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¿Es central? SÍ → el nodo 13801 (que vive en C0) tiene el mayor
Betweenness y Closeness de TODA la 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4F8A"/>
                </a:solidFill>
                <a:latin typeface="Calibri"/>
              </a:rPr>
              <a:t>Respuesta: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C0 es el núcleo de toda la red. Es grande pero no tan densa. El liderazgo está repartido entre 3 autores con roles distintos: el más influyente, el más colaborativo y el que une los subgrupos.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¿Cuál es la comunidad más compacta?  →  Comunidad C17 (47 nodos)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9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70432"/>
          <a:ext cx="5943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Qué miramos</a:t>
                      </a:r>
                    </a:p>
                  </a:txBody>
                  <a:tcPr>
                    <a:solidFill>
                      <a:srgbClr val="3786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>
                    <a:solidFill>
                      <a:srgbClr val="37864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a) Mayor densidad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0,684  →  muy alta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b) Mayor clustering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0,860  →  muy alto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Número de nodos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Número de aristas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739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Top autor (Degree + Eigenvector)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Nodo 6512  (41 conexiones internas)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¿Liderazgo claro?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Calibri"/>
                        </a:rPr>
                        <a:t>3 autores casi iguales: 6512, 16654, 17807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92240" y="1170432"/>
            <a:ext cx="5394960" cy="384048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2618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C"/>
                </a:solidFill>
                <a:latin typeface="Calibri"/>
              </a:rPr>
              <a:t>Comparativa de densidad: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4C"/>
                </a:solidFill>
                <a:latin typeface="Calibri"/>
              </a:rPr>
              <a:t>C17 (más compacta)  →  0.684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194560"/>
            <a:ext cx="3002158" cy="36576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788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4F8A"/>
                </a:solidFill>
                <a:latin typeface="Calibri"/>
              </a:rPr>
              <a:t>C0 (más grande)  →  0.005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3200400"/>
            <a:ext cx="64008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7947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55555"/>
                </a:solidFill>
                <a:latin typeface="Calibri"/>
              </a:rPr>
              <a:t>Red completa  →  0.001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4206240"/>
            <a:ext cx="64008" cy="3657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68172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7864C"/>
                </a:solidFill>
                <a:latin typeface="Calibri"/>
              </a:rPr>
              <a:t>El 68,4% de todas las colaboraciones posibles
entre sus 47 miembros realmente existen.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11548872" cy="1024128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5440680"/>
            <a:ext cx="73152" cy="1024128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4681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C"/>
                </a:solidFill>
                <a:latin typeface="Calibri"/>
              </a:rPr>
              <a:t>Respuesta: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79008"/>
            <a:ext cx="112745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Es compacta porque casi todos colaboran con todos. Probablemente es un equipo del mismo laboratorio o proyecto. Liderazgo compartido entre 3 autores → más resiliente. Riesgo: muy cerrada hacia afuera (cámara de eco).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99029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Lo más importante que encontramos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3032" y="27432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BDD7EE"/>
                </a:solidFill>
                <a:latin typeface="Calibri"/>
              </a:rPr>
              <a:t>10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28816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DD7EE"/>
                </a:solidFill>
                <a:latin typeface="Calibri"/>
              </a:rPr>
              <a:t>Taller 3 · Análisis de Redes Complejas · APPD 2026  ·  I. Tobar Suárez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70432"/>
            <a:ext cx="365760" cy="8046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20700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4F8A"/>
                </a:solidFill>
                <a:latin typeface="Calibri"/>
              </a:rPr>
              <a:t>La red es 'libre de escala'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727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Pocos autores tienen MUCHAS colaboraciones. El nodo 21012 tiene 81 coautores vs. un promedio de 5,53. La mayoría tiene muy pocos.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57984"/>
            <a:ext cx="365760" cy="804672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194560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7864C"/>
                </a:solidFill>
                <a:latin typeface="Calibri"/>
              </a:rPr>
              <a:t>Ser colaborativo ≠ ser influyente ≠ ser un puente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60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Cada métrica mide algo distinto. Ningún autor domina las 4 a la vez. Hay que mirar todas para entender bien el rol de cada uno.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45536"/>
            <a:ext cx="365760" cy="80467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18211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030A0"/>
                </a:solidFill>
                <a:latin typeface="Calibri"/>
              </a:rPr>
              <a:t>El nodo 13801 es el más crítico para la 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4787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No tiene los más coautores, pero conecta todo. Su eliminación partiría la red más que la de cualquier otro autor.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33088"/>
            <a:ext cx="365760" cy="804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696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D7D31"/>
                </a:solidFill>
                <a:latin typeface="Calibri"/>
              </a:rPr>
              <a:t>Hay 63 comunidades bien definidas (Q = 0,80)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354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La red no está fragmentada al azar: hay grupos temáticos claros dentro de la relatividad general y cosmología cuántica.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20640"/>
            <a:ext cx="365760" cy="804672"/>
          </a:xfrm>
          <a:prstGeom prst="rect">
            <a:avLst/>
          </a:prstGeom>
          <a:solidFill>
            <a:srgbClr val="0A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15721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A7070"/>
                </a:solidFill>
                <a:latin typeface="Calibri"/>
              </a:rPr>
              <a:t>Dos tipos de comunidad bien distintos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2297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Calibri"/>
              </a:rPr>
              <a:t>C0 (901 nodos, baja densidad) = núcleo central disperso. C17 (47 nodos, densidad 0,68) = equipo compacto y cerrado.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57700"/>
            <a:ext cx="12188952" cy="2400300"/>
          </a:xfrm>
          <a:prstGeom prst="rect">
            <a:avLst/>
          </a:prstGeom>
          <a:solidFill>
            <a:srgbClr val="0D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¡Gracias!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017520"/>
            <a:ext cx="4846320" cy="73152"/>
          </a:xfrm>
          <a:prstGeom prst="rect">
            <a:avLst/>
          </a:prstGeom>
          <a:solidFill>
            <a:srgbClr val="378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DD7EE"/>
                </a:solidFill>
                <a:latin typeface="Calibri"/>
              </a:rPr>
              <a:t>Taller 3 · Análisis de Redes Complejas con Gephi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DD7EE"/>
                </a:solidFill>
                <a:latin typeface="Calibri"/>
              </a:rPr>
              <a:t>I. Tobar Suárez  ·  Prof. Dr. Rodrigo Salas  ·  APPD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DD7EE"/>
                </a:solidFill>
                <a:latin typeface="Calibri"/>
              </a:rPr>
              <a:t>[1] Blondel et al. (2008). Fast unfolding of communities in large networks. J. Statistical Mechanics.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017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DD7EE"/>
                </a:solidFill>
                <a:latin typeface="Calibri"/>
              </a:rPr>
              <a:t>[2] Brandes (2001). A faster algorithm for betweenness centrality. J. Mathematical Sociology.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8581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DD7EE"/>
                </a:solidFill>
                <a:latin typeface="Calibri"/>
              </a:rPr>
              <a:t>[3] Leskovec, Kleinberg &amp; Faloutsos (2007). Graph evolution. ACM TKDD.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69864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DD7EE"/>
                </a:solidFill>
                <a:latin typeface="Calibri"/>
              </a:rPr>
              <a:t>[4] Newman (2004). Coauthorship networks. PNAS 101(S1).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5391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BDD7EE"/>
                </a:solidFill>
                <a:latin typeface="Calibri"/>
              </a:rPr>
              <a:t>[5] SNAP Stanford: snap.stanford.edu/data/ca-GrQc.html  ·  Gephi 0.11.2: gephi.org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